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480868-DAB3-73B0-BD87-A9A4C4535FFD}">
          <p14:sldIdLst>
            <p14:sldId id="256"/>
            <p14:sldId id="257"/>
          </p14:sldIdLst>
        </p14:section>
        <p14:section name="Method" id="{2B95BEC4-70E6-C5D1-367A-21EBE5AE8AAE}">
          <p14:sldIdLst>
            <p14:sldId id="258"/>
            <p14:sldId id="259"/>
            <p14:sldId id="260"/>
          </p14:sldIdLst>
        </p14:section>
        <p14:section name="Results" id="{FC879A97-7923-7DC0-8A89-627AA2DFF1A5}">
          <p14:sldIdLst>
            <p14:sldId id="261"/>
            <p14:sldId id="262"/>
          </p14:sldIdLst>
        </p14:section>
        <p14:section name="Wrap-up" id="{1B953443-EBAA-96D6-AEFE-4447EB52924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76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Project: terrain classification for small legged robots using tactile data. Team B-29 (team size 2). Eight terrain classes: asphalt, cork, grass, gravel, lab, laminate wood, pebble, sand. Source: repository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and objectives are taken from the README and the existing report (sections 1 and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5,990 samples, 447 features (414 tactile readings arranged 6 x 69, plus 33 engineered features), 8 classes. Stratified 70/15/15 split gives 4,193 / 898 / 899 samples (split sizes from the existing report; the notebook uses train_test_split with seed 42). The dataset's original source is not documented in the repository (data/README.md is empty), so it is deliberately not named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follows the notebook (Terrain_CNN_Clean.ipynb): load, stratified split (seed 42), normalization parameters estimated from training data only, train four models, select on validation, evaluate on the held-out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Hyperparameters from the notebook. LR: StandardScaler, max_iter 2000. SVM: StandardScaler, RBF, C=10, gamma='scale'. Random Forest: 400 trees, min_samples_leaf=2, class_weight='balanced'. CNN: four Conv2d layers with (1,5) kernels and 24 filters, max-pool (1,2) stride 1, dropout 0.5, concatenated with all 33 engineered features, dense layer of 50 units, 8 outputs. Adam lr 1e-4, batch 64, up to 100 epochs, early stopping on validation accuracy (patience 12); best-validation weights restored before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values from results/test_model_comparison.csv and the README. The figure is the original results/model_comparison.png from the repository, unmodified. The 15.13 percentage-point gap is 77.09 - 61.96. Results come from a single split, so no claim of statistical significance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is the original results/cnn_confusion_matrix.png from the repository, unmodified. Per-class recall from it matches the existing report: sand 98%, grass 83%, laminate wood 74%, pebble 64%, gravel 59%, lab 58%, asphalt 49%, cork 11%. Limitations and future work follow the existing report (sections 6 and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mirrors the existing report. The result does not show that Random Forest is universally better than CNNs; it is limited to this dataset, split, preprocessing and model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Team B-29  |  Terrain Classification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52120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Team B-29  |  Terrain Classification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Terrain Classification for Small Legged Robots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Deep learning on tactile data</a:t>
            </a:r>
            <a:endParaRPr lang="en-US" sz="2000" dirty="0"/>
          </a:p>
        </p:txBody>
      </p:sp>
      <p:sp>
        <p:nvSpPr>
          <p:cNvPr id="4" name="Team line"/>
          <p:cNvSpPr txBox="1"/>
          <p:nvPr/>
        </p:nvSpPr>
        <p:spPr>
          <a:xfrm>
            <a:off x="548640" y="3429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B-29  |  B.Tech CSE (AI &amp; ML)</a:t>
            </a:r>
            <a:endParaRPr lang="en-US" sz="1600" dirty="0"/>
          </a:p>
        </p:txBody>
      </p:sp>
      <p:sp>
        <p:nvSpPr>
          <p:cNvPr id="5" name="Member 1"/>
          <p:cNvSpPr txBox="1"/>
          <p:nvPr/>
        </p:nvSpPr>
        <p:spPr>
          <a:xfrm>
            <a:off x="548640" y="3794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Harshit Vaish  |  PES1UG24AM116</a:t>
            </a:r>
            <a:endParaRPr lang="en-US" sz="1400" dirty="0"/>
          </a:p>
        </p:txBody>
      </p:sp>
      <p:sp>
        <p:nvSpPr>
          <p:cNvPr id="6" name="Member 2"/>
          <p:cNvSpPr txBox="1"/>
          <p:nvPr/>
        </p:nvSpPr>
        <p:spPr>
          <a:xfrm>
            <a:off x="54864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Gayathri Priya V  |  PES1UG24AM105</a:t>
            </a:r>
            <a:endParaRPr lang="en-US" sz="1400" dirty="0"/>
          </a:p>
        </p:txBody>
      </p:sp>
      <p:sp>
        <p:nvSpPr>
          <p:cNvPr id="7" name="Course line"/>
          <p:cNvSpPr txBox="1"/>
          <p:nvPr/>
        </p:nvSpPr>
        <p:spPr>
          <a:xfrm>
            <a:off x="54864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Machine Learning mini-project</a:t>
            </a:r>
            <a:endParaRPr lang="en-US" sz="1200" dirty="0"/>
          </a:p>
        </p:txBody>
      </p:sp>
      <p:sp>
        <p:nvSpPr>
          <p:cNvPr id="8" name="Chips label"/>
          <p:cNvSpPr txBox="1"/>
          <p:nvPr/>
        </p:nvSpPr>
        <p:spPr>
          <a:xfrm>
            <a:off x="6126480" y="960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8 TERRAIN CLASSES</a:t>
            </a:r>
            <a:endParaRPr lang="en-US" sz="1200" dirty="0"/>
          </a:p>
        </p:txBody>
      </p:sp>
      <p:sp>
        <p:nvSpPr>
          <p:cNvPr id="9" name="Chip Asphalt"/>
          <p:cNvSpPr/>
          <p:nvPr/>
        </p:nvSpPr>
        <p:spPr>
          <a:xfrm>
            <a:off x="6126480" y="132588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0" name="Dot Asphalt"/>
          <p:cNvSpPr/>
          <p:nvPr/>
        </p:nvSpPr>
        <p:spPr>
          <a:xfrm>
            <a:off x="6254496" y="154076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Chip text Asphalt"/>
          <p:cNvSpPr txBox="1"/>
          <p:nvPr/>
        </p:nvSpPr>
        <p:spPr>
          <a:xfrm>
            <a:off x="6455664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Asphalt</a:t>
            </a:r>
            <a:endParaRPr lang="en-US" sz="1300" dirty="0"/>
          </a:p>
        </p:txBody>
      </p:sp>
      <p:sp>
        <p:nvSpPr>
          <p:cNvPr id="12" name="Chip Cork"/>
          <p:cNvSpPr/>
          <p:nvPr/>
        </p:nvSpPr>
        <p:spPr>
          <a:xfrm>
            <a:off x="7498080" y="132588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Dot Cork"/>
          <p:cNvSpPr/>
          <p:nvPr/>
        </p:nvSpPr>
        <p:spPr>
          <a:xfrm>
            <a:off x="7626096" y="154076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Chip text Cork"/>
          <p:cNvSpPr txBox="1"/>
          <p:nvPr/>
        </p:nvSpPr>
        <p:spPr>
          <a:xfrm>
            <a:off x="7827264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Cork</a:t>
            </a:r>
            <a:endParaRPr lang="en-US" sz="1300" dirty="0"/>
          </a:p>
        </p:txBody>
      </p:sp>
      <p:sp>
        <p:nvSpPr>
          <p:cNvPr id="15" name="Chip Grass"/>
          <p:cNvSpPr/>
          <p:nvPr/>
        </p:nvSpPr>
        <p:spPr>
          <a:xfrm>
            <a:off x="6126480" y="205740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6" name="Dot Grass"/>
          <p:cNvSpPr/>
          <p:nvPr/>
        </p:nvSpPr>
        <p:spPr>
          <a:xfrm>
            <a:off x="6254496" y="227228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Chip text Grass"/>
          <p:cNvSpPr txBox="1"/>
          <p:nvPr/>
        </p:nvSpPr>
        <p:spPr>
          <a:xfrm>
            <a:off x="6455664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Grass</a:t>
            </a:r>
            <a:endParaRPr lang="en-US" sz="1300" dirty="0"/>
          </a:p>
        </p:txBody>
      </p:sp>
      <p:sp>
        <p:nvSpPr>
          <p:cNvPr id="18" name="Chip Gravel"/>
          <p:cNvSpPr/>
          <p:nvPr/>
        </p:nvSpPr>
        <p:spPr>
          <a:xfrm>
            <a:off x="7498080" y="205740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Dot Gravel"/>
          <p:cNvSpPr/>
          <p:nvPr/>
        </p:nvSpPr>
        <p:spPr>
          <a:xfrm>
            <a:off x="7626096" y="227228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Chip text Gravel"/>
          <p:cNvSpPr txBox="1"/>
          <p:nvPr/>
        </p:nvSpPr>
        <p:spPr>
          <a:xfrm>
            <a:off x="7827264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Gravel</a:t>
            </a:r>
            <a:endParaRPr lang="en-US" sz="1300" dirty="0"/>
          </a:p>
        </p:txBody>
      </p:sp>
      <p:sp>
        <p:nvSpPr>
          <p:cNvPr id="21" name="Chip Lab"/>
          <p:cNvSpPr/>
          <p:nvPr/>
        </p:nvSpPr>
        <p:spPr>
          <a:xfrm>
            <a:off x="6126480" y="278892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2" name="Dot Lab"/>
          <p:cNvSpPr/>
          <p:nvPr/>
        </p:nvSpPr>
        <p:spPr>
          <a:xfrm>
            <a:off x="6254496" y="300380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Chip text Lab"/>
          <p:cNvSpPr txBox="1"/>
          <p:nvPr/>
        </p:nvSpPr>
        <p:spPr>
          <a:xfrm>
            <a:off x="6455664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Lab</a:t>
            </a:r>
            <a:endParaRPr lang="en-US" sz="1300" dirty="0"/>
          </a:p>
        </p:txBody>
      </p:sp>
      <p:sp>
        <p:nvSpPr>
          <p:cNvPr id="24" name="Chip Laminate wood"/>
          <p:cNvSpPr/>
          <p:nvPr/>
        </p:nvSpPr>
        <p:spPr>
          <a:xfrm>
            <a:off x="7498080" y="278892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5" name="Dot Laminate wood"/>
          <p:cNvSpPr/>
          <p:nvPr/>
        </p:nvSpPr>
        <p:spPr>
          <a:xfrm>
            <a:off x="7626096" y="300380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Chip text Laminate wood"/>
          <p:cNvSpPr txBox="1"/>
          <p:nvPr/>
        </p:nvSpPr>
        <p:spPr>
          <a:xfrm>
            <a:off x="7827264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Laminate wood</a:t>
            </a:r>
            <a:endParaRPr lang="en-US" sz="1300" dirty="0"/>
          </a:p>
        </p:txBody>
      </p:sp>
      <p:sp>
        <p:nvSpPr>
          <p:cNvPr id="27" name="Chip Pebble"/>
          <p:cNvSpPr/>
          <p:nvPr/>
        </p:nvSpPr>
        <p:spPr>
          <a:xfrm>
            <a:off x="6126480" y="352044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8" name="Dot Pebble"/>
          <p:cNvSpPr/>
          <p:nvPr/>
        </p:nvSpPr>
        <p:spPr>
          <a:xfrm>
            <a:off x="6254496" y="373532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Chip text Pebble"/>
          <p:cNvSpPr txBox="1"/>
          <p:nvPr/>
        </p:nvSpPr>
        <p:spPr>
          <a:xfrm>
            <a:off x="6455664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Pebble</a:t>
            </a:r>
            <a:endParaRPr lang="en-US" sz="1300" dirty="0"/>
          </a:p>
        </p:txBody>
      </p:sp>
      <p:sp>
        <p:nvSpPr>
          <p:cNvPr id="30" name="Chip Sand"/>
          <p:cNvSpPr/>
          <p:nvPr/>
        </p:nvSpPr>
        <p:spPr>
          <a:xfrm>
            <a:off x="7498080" y="352044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1" name="Dot Sand"/>
          <p:cNvSpPr/>
          <p:nvPr/>
        </p:nvSpPr>
        <p:spPr>
          <a:xfrm>
            <a:off x="7626096" y="3735324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Chip text Sand"/>
          <p:cNvSpPr txBox="1"/>
          <p:nvPr/>
        </p:nvSpPr>
        <p:spPr>
          <a:xfrm>
            <a:off x="7827264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Sand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and objectives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34440"/>
            <a:ext cx="37490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4" name="Problem label"/>
          <p:cNvSpPr txBox="1"/>
          <p:nvPr/>
        </p:nvSpPr>
        <p:spPr>
          <a:xfrm>
            <a:off x="68580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Problem text"/>
          <p:cNvSpPr txBox="1"/>
          <p:nvPr/>
        </p:nvSpPr>
        <p:spPr>
          <a:xfrm>
            <a:off x="68580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legged robot needs to recognize the surface under its feet to move reliably.</a:t>
            </a:r>
            <a:endParaRPr lang="en-US" sz="1800" dirty="0"/>
          </a:p>
        </p:txBody>
      </p:sp>
      <p:sp>
        <p:nvSpPr>
          <p:cNvPr id="6" name="Flow box 1"/>
          <p:cNvSpPr/>
          <p:nvPr/>
        </p:nvSpPr>
        <p:spPr>
          <a:xfrm>
            <a:off x="685800" y="2743200"/>
            <a:ext cx="329184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/>
        </p:spPr>
      </p:sp>
      <p:sp>
        <p:nvSpPr>
          <p:cNvPr id="7" name="Flow text 1"/>
          <p:cNvSpPr txBox="1"/>
          <p:nvPr/>
        </p:nvSpPr>
        <p:spPr>
          <a:xfrm>
            <a:off x="685800" y="27432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Tactile signal</a:t>
            </a:r>
            <a:endParaRPr lang="en-US" sz="1500" dirty="0"/>
          </a:p>
        </p:txBody>
      </p:sp>
      <p:sp>
        <p:nvSpPr>
          <p:cNvPr id="8" name="Flow box 2"/>
          <p:cNvSpPr/>
          <p:nvPr/>
        </p:nvSpPr>
        <p:spPr>
          <a:xfrm>
            <a:off x="685800" y="3310128"/>
            <a:ext cx="3291840" cy="420624"/>
          </a:xfrm>
          <a:prstGeom prst="roundRect">
            <a:avLst>
              <a:gd name="adj" fmla="val 17391"/>
            </a:avLst>
          </a:prstGeom>
          <a:solidFill>
            <a:schemeClr val="accent2"/>
          </a:solidFill>
          <a:ln/>
        </p:spPr>
      </p:sp>
      <p:sp>
        <p:nvSpPr>
          <p:cNvPr id="9" name="Flow text 2"/>
          <p:cNvSpPr txBox="1"/>
          <p:nvPr/>
        </p:nvSpPr>
        <p:spPr>
          <a:xfrm>
            <a:off x="685800" y="3310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Classifier</a:t>
            </a:r>
            <a:endParaRPr lang="en-US" sz="1500" dirty="0"/>
          </a:p>
        </p:txBody>
      </p:sp>
      <p:sp>
        <p:nvSpPr>
          <p:cNvPr id="10" name="Flow box 3"/>
          <p:cNvSpPr/>
          <p:nvPr/>
        </p:nvSpPr>
        <p:spPr>
          <a:xfrm>
            <a:off x="685800" y="3877056"/>
            <a:ext cx="329184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11" name="Flow text 3"/>
          <p:cNvSpPr txBox="1"/>
          <p:nvPr/>
        </p:nvSpPr>
        <p:spPr>
          <a:xfrm>
            <a:off x="685800" y="38770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 of 8 terrains</a:t>
            </a:r>
            <a:endParaRPr lang="en-US" sz="1500" dirty="0"/>
          </a:p>
        </p:txBody>
      </p:sp>
      <p:sp>
        <p:nvSpPr>
          <p:cNvPr id="12" name="Objectives label"/>
          <p:cNvSpPr txBox="1"/>
          <p:nvPr/>
        </p:nvSpPr>
        <p:spPr>
          <a:xfrm>
            <a:off x="4663440" y="1280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3" name="Objective 1 marker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Objective 1 marker number"/>
          <p:cNvSpPr txBox="1"/>
          <p:nvPr/>
        </p:nvSpPr>
        <p:spPr>
          <a:xfrm>
            <a:off x="4663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Objective 1 text"/>
          <p:cNvSpPr txBox="1"/>
          <p:nvPr/>
        </p:nvSpPr>
        <p:spPr>
          <a:xfrm>
            <a:off x="534924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Classify 8 terrain types from tactile sensor data</a:t>
            </a:r>
            <a:endParaRPr lang="en-US" sz="1800" dirty="0"/>
          </a:p>
        </p:txBody>
      </p:sp>
      <p:sp>
        <p:nvSpPr>
          <p:cNvPr id="16" name="Objective 2 marker"/>
          <p:cNvSpPr/>
          <p:nvPr/>
        </p:nvSpPr>
        <p:spPr>
          <a:xfrm>
            <a:off x="466344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Objective 2 marker number"/>
          <p:cNvSpPr txBox="1"/>
          <p:nvPr/>
        </p:nvSpPr>
        <p:spPr>
          <a:xfrm>
            <a:off x="46634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Objective 2 text"/>
          <p:cNvSpPr txBox="1"/>
          <p:nvPr/>
        </p:nvSpPr>
        <p:spPr>
          <a:xfrm>
            <a:off x="5349240" y="2606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Compare three classical models against a CNN</a:t>
            </a:r>
            <a:endParaRPr lang="en-US" sz="1800" dirty="0"/>
          </a:p>
        </p:txBody>
      </p:sp>
      <p:sp>
        <p:nvSpPr>
          <p:cNvPr id="19" name="Objective 3 marker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Objective 3 marker number"/>
          <p:cNvSpPr txBox="1"/>
          <p:nvPr/>
        </p:nvSpPr>
        <p:spPr>
          <a:xfrm>
            <a:off x="46634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Objective 3 text"/>
          <p:cNvSpPr txBox="1"/>
          <p:nvPr/>
        </p:nvSpPr>
        <p:spPr>
          <a:xfrm>
            <a:off x="5349240" y="35661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Evaluate on a held-out test set using accuracy and macro F1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743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640080" y="118872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5,990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2011680" y="1188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samples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57200" y="2286000"/>
            <a:ext cx="2743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640080" y="228600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447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2011680" y="2286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 per sample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57200" y="3383280"/>
            <a:ext cx="2743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640080" y="33832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</a:t>
            </a:r>
            <a:endParaRPr lang="en-US" sz="3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2011680" y="33832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terrain classes</a:t>
            </a:r>
            <a:endParaRPr lang="en-US" sz="1400" dirty="0"/>
          </a:p>
        </p:txBody>
      </p:sp>
      <p:sp>
        <p:nvSpPr>
          <p:cNvPr id="12" name="Feature bar label"/>
          <p:cNvSpPr txBox="1"/>
          <p:nvPr/>
        </p:nvSpPr>
        <p:spPr>
          <a:xfrm>
            <a:off x="365760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WHAT EACH SAMPLE CONTAINS</a:t>
            </a:r>
            <a:endParaRPr lang="en-US" sz="1200" dirty="0"/>
          </a:p>
        </p:txBody>
      </p:sp>
      <p:sp>
        <p:nvSpPr>
          <p:cNvPr id="13" name="Tactile segment"/>
          <p:cNvSpPr/>
          <p:nvPr/>
        </p:nvSpPr>
        <p:spPr>
          <a:xfrm>
            <a:off x="3657600" y="1508760"/>
            <a:ext cx="4657917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Engineered segment"/>
          <p:cNvSpPr/>
          <p:nvPr/>
        </p:nvSpPr>
        <p:spPr>
          <a:xfrm>
            <a:off x="8315517" y="1508760"/>
            <a:ext cx="371283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actile text"/>
          <p:cNvSpPr txBox="1"/>
          <p:nvPr/>
        </p:nvSpPr>
        <p:spPr>
          <a:xfrm>
            <a:off x="3794760" y="1508760"/>
            <a:ext cx="4475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414 tactile readings (6 channels × 69)</a:t>
            </a:r>
            <a:endParaRPr lang="en-US" sz="1400" dirty="0"/>
          </a:p>
        </p:txBody>
      </p:sp>
      <p:sp>
        <p:nvSpPr>
          <p:cNvPr id="16" name="Engineered text"/>
          <p:cNvSpPr txBox="1"/>
          <p:nvPr/>
        </p:nvSpPr>
        <p:spPr>
          <a:xfrm>
            <a:off x="8315517" y="1508760"/>
            <a:ext cx="371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33</a:t>
            </a:r>
            <a:endParaRPr lang="en-US" sz="1400" dirty="0"/>
          </a:p>
        </p:txBody>
      </p:sp>
      <p:sp>
        <p:nvSpPr>
          <p:cNvPr id="17" name="Engineered caption"/>
          <p:cNvSpPr txBox="1"/>
          <p:nvPr/>
        </p:nvSpPr>
        <p:spPr>
          <a:xfrm>
            <a:off x="64008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33 engineered features</a:t>
            </a:r>
            <a:endParaRPr lang="en-US" sz="1200" dirty="0"/>
          </a:p>
        </p:txBody>
      </p:sp>
      <p:sp>
        <p:nvSpPr>
          <p:cNvPr id="18" name="Split bar label"/>
          <p:cNvSpPr txBox="1"/>
          <p:nvPr/>
        </p:nvSpPr>
        <p:spPr>
          <a:xfrm>
            <a:off x="3657600" y="2514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STRATIFIED SPLIT  (70 / 15 / 15)</a:t>
            </a:r>
            <a:endParaRPr lang="en-US" sz="1200" dirty="0"/>
          </a:p>
        </p:txBody>
      </p:sp>
      <p:sp>
        <p:nvSpPr>
          <p:cNvPr id="19" name="Train segment"/>
          <p:cNvSpPr/>
          <p:nvPr/>
        </p:nvSpPr>
        <p:spPr>
          <a:xfrm>
            <a:off x="3657600" y="2834640"/>
            <a:ext cx="352044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Validation segment"/>
          <p:cNvSpPr/>
          <p:nvPr/>
        </p:nvSpPr>
        <p:spPr>
          <a:xfrm>
            <a:off x="7178040" y="2834640"/>
            <a:ext cx="754380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Test segment"/>
          <p:cNvSpPr/>
          <p:nvPr/>
        </p:nvSpPr>
        <p:spPr>
          <a:xfrm>
            <a:off x="7932420" y="2834640"/>
            <a:ext cx="75438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rain text"/>
          <p:cNvSpPr txBox="1"/>
          <p:nvPr/>
        </p:nvSpPr>
        <p:spPr>
          <a:xfrm>
            <a:off x="3657600" y="2834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</a:t>
            </a:r>
            <a:endParaRPr lang="en-US" sz="1400" dirty="0"/>
          </a:p>
        </p:txBody>
      </p:sp>
      <p:sp>
        <p:nvSpPr>
          <p:cNvPr id="23" name="Val text"/>
          <p:cNvSpPr txBox="1"/>
          <p:nvPr/>
        </p:nvSpPr>
        <p:spPr>
          <a:xfrm>
            <a:off x="7178040" y="283464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Val</a:t>
            </a:r>
            <a:endParaRPr lang="en-US" sz="1200" dirty="0"/>
          </a:p>
        </p:txBody>
      </p:sp>
      <p:sp>
        <p:nvSpPr>
          <p:cNvPr id="24" name="Test text"/>
          <p:cNvSpPr txBox="1"/>
          <p:nvPr/>
        </p:nvSpPr>
        <p:spPr>
          <a:xfrm>
            <a:off x="7932420" y="283464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25" name="Train count"/>
          <p:cNvSpPr txBox="1"/>
          <p:nvPr/>
        </p:nvSpPr>
        <p:spPr>
          <a:xfrm>
            <a:off x="3657600" y="3337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4,193</a:t>
            </a:r>
            <a:endParaRPr lang="en-US" sz="1200" dirty="0"/>
          </a:p>
        </p:txBody>
      </p:sp>
      <p:sp>
        <p:nvSpPr>
          <p:cNvPr id="26" name="Val count"/>
          <p:cNvSpPr txBox="1"/>
          <p:nvPr/>
        </p:nvSpPr>
        <p:spPr>
          <a:xfrm>
            <a:off x="7178040" y="3337560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898</a:t>
            </a:r>
            <a:endParaRPr lang="en-US" sz="1200" dirty="0"/>
          </a:p>
        </p:txBody>
      </p:sp>
      <p:sp>
        <p:nvSpPr>
          <p:cNvPr id="27" name="Test count"/>
          <p:cNvSpPr txBox="1"/>
          <p:nvPr/>
        </p:nvSpPr>
        <p:spPr>
          <a:xfrm>
            <a:off x="7932420" y="3337560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899</a:t>
            </a:r>
            <a:endParaRPr lang="en-US" sz="1200" dirty="0"/>
          </a:p>
        </p:txBody>
      </p:sp>
      <p:sp>
        <p:nvSpPr>
          <p:cNvPr id="28" name="Class chip Asphalt"/>
          <p:cNvSpPr/>
          <p:nvPr/>
        </p:nvSpPr>
        <p:spPr>
          <a:xfrm>
            <a:off x="3657600" y="3840480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29" name="Class text Asphalt"/>
          <p:cNvSpPr txBox="1"/>
          <p:nvPr/>
        </p:nvSpPr>
        <p:spPr>
          <a:xfrm>
            <a:off x="365760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Asphalt</a:t>
            </a:r>
            <a:endParaRPr lang="en-US" sz="1200" dirty="0"/>
          </a:p>
        </p:txBody>
      </p:sp>
      <p:sp>
        <p:nvSpPr>
          <p:cNvPr id="30" name="Class chip Cork"/>
          <p:cNvSpPr/>
          <p:nvPr/>
        </p:nvSpPr>
        <p:spPr>
          <a:xfrm>
            <a:off x="4937760" y="3840480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31" name="Class text Cork"/>
          <p:cNvSpPr txBox="1"/>
          <p:nvPr/>
        </p:nvSpPr>
        <p:spPr>
          <a:xfrm>
            <a:off x="493776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Cork</a:t>
            </a:r>
            <a:endParaRPr lang="en-US" sz="1200" dirty="0"/>
          </a:p>
        </p:txBody>
      </p:sp>
      <p:sp>
        <p:nvSpPr>
          <p:cNvPr id="32" name="Class chip Grass"/>
          <p:cNvSpPr/>
          <p:nvPr/>
        </p:nvSpPr>
        <p:spPr>
          <a:xfrm>
            <a:off x="6217920" y="3840480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33" name="Class text Grass"/>
          <p:cNvSpPr txBox="1"/>
          <p:nvPr/>
        </p:nvSpPr>
        <p:spPr>
          <a:xfrm>
            <a:off x="621792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Grass</a:t>
            </a:r>
            <a:endParaRPr lang="en-US" sz="1200" dirty="0"/>
          </a:p>
        </p:txBody>
      </p:sp>
      <p:sp>
        <p:nvSpPr>
          <p:cNvPr id="34" name="Class chip Gravel"/>
          <p:cNvSpPr/>
          <p:nvPr/>
        </p:nvSpPr>
        <p:spPr>
          <a:xfrm>
            <a:off x="7498080" y="3840480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35" name="Class text Gravel"/>
          <p:cNvSpPr txBox="1"/>
          <p:nvPr/>
        </p:nvSpPr>
        <p:spPr>
          <a:xfrm>
            <a:off x="749808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Gravel</a:t>
            </a:r>
            <a:endParaRPr lang="en-US" sz="1200" dirty="0"/>
          </a:p>
        </p:txBody>
      </p:sp>
      <p:sp>
        <p:nvSpPr>
          <p:cNvPr id="36" name="Class chip Lab"/>
          <p:cNvSpPr/>
          <p:nvPr/>
        </p:nvSpPr>
        <p:spPr>
          <a:xfrm>
            <a:off x="3657600" y="4224528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37" name="Class text Lab"/>
          <p:cNvSpPr txBox="1"/>
          <p:nvPr/>
        </p:nvSpPr>
        <p:spPr>
          <a:xfrm>
            <a:off x="365760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Lab</a:t>
            </a:r>
            <a:endParaRPr lang="en-US" sz="1200" dirty="0"/>
          </a:p>
        </p:txBody>
      </p:sp>
      <p:sp>
        <p:nvSpPr>
          <p:cNvPr id="38" name="Class chip Laminate wood"/>
          <p:cNvSpPr/>
          <p:nvPr/>
        </p:nvSpPr>
        <p:spPr>
          <a:xfrm>
            <a:off x="4937760" y="4224528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39" name="Class text Laminate wood"/>
          <p:cNvSpPr txBox="1"/>
          <p:nvPr/>
        </p:nvSpPr>
        <p:spPr>
          <a:xfrm>
            <a:off x="493776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Laminate wood</a:t>
            </a:r>
            <a:endParaRPr lang="en-US" sz="1200" dirty="0"/>
          </a:p>
        </p:txBody>
      </p:sp>
      <p:sp>
        <p:nvSpPr>
          <p:cNvPr id="40" name="Class chip Pebble"/>
          <p:cNvSpPr/>
          <p:nvPr/>
        </p:nvSpPr>
        <p:spPr>
          <a:xfrm>
            <a:off x="6217920" y="4224528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1" name="Class text Pebble"/>
          <p:cNvSpPr txBox="1"/>
          <p:nvPr/>
        </p:nvSpPr>
        <p:spPr>
          <a:xfrm>
            <a:off x="621792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Pebble</a:t>
            </a:r>
            <a:endParaRPr lang="en-US" sz="1200" dirty="0"/>
          </a:p>
        </p:txBody>
      </p:sp>
      <p:sp>
        <p:nvSpPr>
          <p:cNvPr id="42" name="Class chip Sand"/>
          <p:cNvSpPr/>
          <p:nvPr/>
        </p:nvSpPr>
        <p:spPr>
          <a:xfrm>
            <a:off x="7498080" y="4224528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3" name="Class text Sand"/>
          <p:cNvSpPr txBox="1"/>
          <p:nvPr/>
        </p:nvSpPr>
        <p:spPr>
          <a:xfrm>
            <a:off x="749808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Sand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1517904" cy="20116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4" name="Step 1 marker"/>
          <p:cNvSpPr/>
          <p:nvPr/>
        </p:nvSpPr>
        <p:spPr>
          <a:xfrm>
            <a:off x="621792" y="1463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marker number"/>
          <p:cNvSpPr txBox="1"/>
          <p:nvPr/>
        </p:nvSpPr>
        <p:spPr>
          <a:xfrm>
            <a:off x="62179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 title"/>
          <p:cNvSpPr txBox="1"/>
          <p:nvPr/>
        </p:nvSpPr>
        <p:spPr>
          <a:xfrm>
            <a:off x="621792" y="20574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 data</a:t>
            </a:r>
            <a:endParaRPr lang="en-US" sz="1600" dirty="0"/>
          </a:p>
        </p:txBody>
      </p:sp>
      <p:sp>
        <p:nvSpPr>
          <p:cNvPr id="7" name="Step 1 detail"/>
          <p:cNvSpPr txBox="1"/>
          <p:nvPr/>
        </p:nvSpPr>
        <p:spPr>
          <a:xfrm>
            <a:off x="621792" y="24688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5,990 × 447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1993392" y="217627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135124" y="1280160"/>
            <a:ext cx="1517904" cy="20116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0" name="Step 2 marker"/>
          <p:cNvSpPr/>
          <p:nvPr/>
        </p:nvSpPr>
        <p:spPr>
          <a:xfrm>
            <a:off x="2299716" y="1463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2 marker number"/>
          <p:cNvSpPr txBox="1"/>
          <p:nvPr/>
        </p:nvSpPr>
        <p:spPr>
          <a:xfrm>
            <a:off x="2299716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2 title"/>
          <p:cNvSpPr txBox="1"/>
          <p:nvPr/>
        </p:nvSpPr>
        <p:spPr>
          <a:xfrm>
            <a:off x="2299716" y="20574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Split</a:t>
            </a:r>
            <a:endParaRPr lang="en-US" sz="1600" dirty="0"/>
          </a:p>
        </p:txBody>
      </p:sp>
      <p:sp>
        <p:nvSpPr>
          <p:cNvPr id="13" name="Step 2 detail"/>
          <p:cNvSpPr txBox="1"/>
          <p:nvPr/>
        </p:nvSpPr>
        <p:spPr>
          <a:xfrm>
            <a:off x="2299716" y="24688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70/15/15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3671316" y="217627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3813048" y="1280160"/>
            <a:ext cx="1517904" cy="20116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6" name="Step 3 marker"/>
          <p:cNvSpPr/>
          <p:nvPr/>
        </p:nvSpPr>
        <p:spPr>
          <a:xfrm>
            <a:off x="3977640" y="1463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3 marker number"/>
          <p:cNvSpPr txBox="1"/>
          <p:nvPr/>
        </p:nvSpPr>
        <p:spPr>
          <a:xfrm>
            <a:off x="39776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 3 title"/>
          <p:cNvSpPr txBox="1"/>
          <p:nvPr/>
        </p:nvSpPr>
        <p:spPr>
          <a:xfrm>
            <a:off x="3977640" y="20574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Normalize</a:t>
            </a:r>
            <a:endParaRPr lang="en-US" sz="1600" dirty="0"/>
          </a:p>
        </p:txBody>
      </p:sp>
      <p:sp>
        <p:nvSpPr>
          <p:cNvPr id="19" name="Step 3 detail"/>
          <p:cNvSpPr txBox="1"/>
          <p:nvPr/>
        </p:nvSpPr>
        <p:spPr>
          <a:xfrm>
            <a:off x="3977640" y="24688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Fit on train data only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5349240" y="217627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5490972" y="1280160"/>
            <a:ext cx="1517904" cy="20116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2" name="Step 4 marker"/>
          <p:cNvSpPr/>
          <p:nvPr/>
        </p:nvSpPr>
        <p:spPr>
          <a:xfrm>
            <a:off x="5655564" y="14630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Step 4 marker number"/>
          <p:cNvSpPr txBox="1"/>
          <p:nvPr/>
        </p:nvSpPr>
        <p:spPr>
          <a:xfrm>
            <a:off x="5655564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4 title"/>
          <p:cNvSpPr txBox="1"/>
          <p:nvPr/>
        </p:nvSpPr>
        <p:spPr>
          <a:xfrm>
            <a:off x="5655564" y="20574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</a:t>
            </a:r>
            <a:endParaRPr lang="en-US" sz="1600" dirty="0"/>
          </a:p>
        </p:txBody>
      </p:sp>
      <p:sp>
        <p:nvSpPr>
          <p:cNvPr id="25" name="Step 4 detail"/>
          <p:cNvSpPr txBox="1"/>
          <p:nvPr/>
        </p:nvSpPr>
        <p:spPr>
          <a:xfrm>
            <a:off x="5655564" y="24688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models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7027164" y="217627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7" name="Step card 5"/>
          <p:cNvSpPr/>
          <p:nvPr/>
        </p:nvSpPr>
        <p:spPr>
          <a:xfrm>
            <a:off x="7168896" y="1280160"/>
            <a:ext cx="1517904" cy="20116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8" name="Step 5 marker"/>
          <p:cNvSpPr/>
          <p:nvPr/>
        </p:nvSpPr>
        <p:spPr>
          <a:xfrm>
            <a:off x="7333488" y="1463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5 marker number"/>
          <p:cNvSpPr txBox="1"/>
          <p:nvPr/>
        </p:nvSpPr>
        <p:spPr>
          <a:xfrm>
            <a:off x="7333488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tep 5 title"/>
          <p:cNvSpPr txBox="1"/>
          <p:nvPr/>
        </p:nvSpPr>
        <p:spPr>
          <a:xfrm>
            <a:off x="7333488" y="20574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 and test</a:t>
            </a:r>
            <a:endParaRPr lang="en-US" sz="1600" dirty="0"/>
          </a:p>
        </p:txBody>
      </p:sp>
      <p:sp>
        <p:nvSpPr>
          <p:cNvPr id="31" name="Step 5 detail"/>
          <p:cNvSpPr txBox="1"/>
          <p:nvPr/>
        </p:nvSpPr>
        <p:spPr>
          <a:xfrm>
            <a:off x="7333488" y="24688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Validate, then final test</a:t>
            </a:r>
            <a:endParaRPr lang="en-US" sz="1400" dirty="0"/>
          </a:p>
        </p:txBody>
      </p:sp>
      <p:sp>
        <p:nvSpPr>
          <p:cNvPr id="32" name="Fact card 1"/>
          <p:cNvSpPr/>
          <p:nvPr/>
        </p:nvSpPr>
        <p:spPr>
          <a:xfrm>
            <a:off x="457200" y="36118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3" name="Fact 1 label"/>
          <p:cNvSpPr txBox="1"/>
          <p:nvPr/>
        </p:nvSpPr>
        <p:spPr>
          <a:xfrm>
            <a:off x="64008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VALIDATION AND TEST</a:t>
            </a:r>
            <a:endParaRPr lang="en-US" sz="1200" dirty="0"/>
          </a:p>
        </p:txBody>
      </p:sp>
      <p:sp>
        <p:nvSpPr>
          <p:cNvPr id="34" name="Fact 1 text"/>
          <p:cNvSpPr txBox="1"/>
          <p:nvPr/>
        </p:nvSpPr>
        <p:spPr>
          <a:xfrm>
            <a:off x="64008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set for model selection; test set held out for final evaluation</a:t>
            </a:r>
            <a:endParaRPr lang="en-US" sz="1400" dirty="0"/>
          </a:p>
        </p:txBody>
      </p:sp>
      <p:sp>
        <p:nvSpPr>
          <p:cNvPr id="35" name="Fact card 2"/>
          <p:cNvSpPr/>
          <p:nvPr/>
        </p:nvSpPr>
        <p:spPr>
          <a:xfrm>
            <a:off x="4663440" y="36118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6" name="Fact 2 label"/>
          <p:cNvSpPr txBox="1"/>
          <p:nvPr/>
        </p:nvSpPr>
        <p:spPr>
          <a:xfrm>
            <a:off x="484632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METRICS AND SEED</a:t>
            </a:r>
            <a:endParaRPr lang="en-US" sz="1200" dirty="0"/>
          </a:p>
        </p:txBody>
      </p:sp>
      <p:sp>
        <p:nvSpPr>
          <p:cNvPr id="37" name="Fact 2 text"/>
          <p:cNvSpPr txBox="1"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and macro F1; fixed random seed (42)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models compared</a:t>
            </a:r>
            <a:endParaRPr lang="en-US" sz="3400" dirty="0"/>
          </a:p>
        </p:txBody>
      </p:sp>
      <p:sp>
        <p:nvSpPr>
          <p:cNvPr id="3" name="Model card Logistic Regression"/>
          <p:cNvSpPr/>
          <p:nvPr/>
        </p:nvSpPr>
        <p:spPr>
          <a:xfrm>
            <a:off x="45720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Model dot Logistic Regression"/>
          <p:cNvSpPr/>
          <p:nvPr/>
        </p:nvSpPr>
        <p:spPr>
          <a:xfrm>
            <a:off x="621792" y="13350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Model name Logistic Regression"/>
          <p:cNvSpPr txBox="1"/>
          <p:nvPr/>
        </p:nvSpPr>
        <p:spPr>
          <a:xfrm>
            <a:off x="621792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6" name="Model detail Logistic Regression"/>
          <p:cNvSpPr txBox="1"/>
          <p:nvPr/>
        </p:nvSpPr>
        <p:spPr>
          <a:xfrm>
            <a:off x="621792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Linear baseline</a:t>
            </a:r>
            <a:endParaRPr lang="en-US" sz="1400" dirty="0"/>
          </a:p>
        </p:txBody>
      </p:sp>
      <p:sp>
        <p:nvSpPr>
          <p:cNvPr id="7" name="Model input Logistic Regression"/>
          <p:cNvSpPr txBox="1"/>
          <p:nvPr/>
        </p:nvSpPr>
        <p:spPr>
          <a:xfrm>
            <a:off x="621792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Standardized 447 features</a:t>
            </a:r>
            <a:endParaRPr lang="en-US" sz="1200" dirty="0"/>
          </a:p>
        </p:txBody>
      </p:sp>
      <p:sp>
        <p:nvSpPr>
          <p:cNvPr id="8" name="Model card SVM (RBF)"/>
          <p:cNvSpPr/>
          <p:nvPr/>
        </p:nvSpPr>
        <p:spPr>
          <a:xfrm>
            <a:off x="256032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Model dot SVM (RBF)"/>
          <p:cNvSpPr/>
          <p:nvPr/>
        </p:nvSpPr>
        <p:spPr>
          <a:xfrm>
            <a:off x="2724912" y="13350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Model name SVM (RBF)"/>
          <p:cNvSpPr txBox="1"/>
          <p:nvPr/>
        </p:nvSpPr>
        <p:spPr>
          <a:xfrm>
            <a:off x="2724912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SVM (RBF)</a:t>
            </a:r>
            <a:endParaRPr lang="en-US" sz="1600" dirty="0"/>
          </a:p>
        </p:txBody>
      </p:sp>
      <p:sp>
        <p:nvSpPr>
          <p:cNvPr id="11" name="Model detail SVM (RBF)"/>
          <p:cNvSpPr txBox="1"/>
          <p:nvPr/>
        </p:nvSpPr>
        <p:spPr>
          <a:xfrm>
            <a:off x="2724912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 = 10, gamma = scale</a:t>
            </a:r>
            <a:endParaRPr lang="en-US" sz="1400" dirty="0"/>
          </a:p>
        </p:txBody>
      </p:sp>
      <p:sp>
        <p:nvSpPr>
          <p:cNvPr id="12" name="Model input SVM (RBF)"/>
          <p:cNvSpPr txBox="1"/>
          <p:nvPr/>
        </p:nvSpPr>
        <p:spPr>
          <a:xfrm>
            <a:off x="2724912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Standardized 447 features</a:t>
            </a:r>
            <a:endParaRPr lang="en-US" sz="1200" dirty="0"/>
          </a:p>
        </p:txBody>
      </p:sp>
      <p:sp>
        <p:nvSpPr>
          <p:cNvPr id="13" name="Model card Random Forest"/>
          <p:cNvSpPr/>
          <p:nvPr/>
        </p:nvSpPr>
        <p:spPr>
          <a:xfrm>
            <a:off x="466344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4" name="Model dot Random Forest"/>
          <p:cNvSpPr/>
          <p:nvPr/>
        </p:nvSpPr>
        <p:spPr>
          <a:xfrm>
            <a:off x="4828032" y="1335024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Model name Random Forest"/>
          <p:cNvSpPr txBox="1"/>
          <p:nvPr/>
        </p:nvSpPr>
        <p:spPr>
          <a:xfrm>
            <a:off x="4828032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6" name="Model detail Random Forest"/>
          <p:cNvSpPr txBox="1"/>
          <p:nvPr/>
        </p:nvSpPr>
        <p:spPr>
          <a:xfrm>
            <a:off x="4828032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400 trees, min leaf 2, balanced weights</a:t>
            </a:r>
            <a:endParaRPr lang="en-US" sz="1400" dirty="0"/>
          </a:p>
        </p:txBody>
      </p:sp>
      <p:sp>
        <p:nvSpPr>
          <p:cNvPr id="17" name="Model input Random Forest"/>
          <p:cNvSpPr txBox="1"/>
          <p:nvPr/>
        </p:nvSpPr>
        <p:spPr>
          <a:xfrm>
            <a:off x="4828032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All 447 features</a:t>
            </a:r>
            <a:endParaRPr lang="en-US" sz="1200" dirty="0"/>
          </a:p>
        </p:txBody>
      </p:sp>
      <p:sp>
        <p:nvSpPr>
          <p:cNvPr id="18" name="Model card CNN"/>
          <p:cNvSpPr/>
          <p:nvPr/>
        </p:nvSpPr>
        <p:spPr>
          <a:xfrm>
            <a:off x="676656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Model dot CNN"/>
          <p:cNvSpPr/>
          <p:nvPr/>
        </p:nvSpPr>
        <p:spPr>
          <a:xfrm>
            <a:off x="6931152" y="13350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Model name CNN"/>
          <p:cNvSpPr txBox="1"/>
          <p:nvPr/>
        </p:nvSpPr>
        <p:spPr>
          <a:xfrm>
            <a:off x="6931152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CNN</a:t>
            </a:r>
            <a:endParaRPr lang="en-US" sz="1600" dirty="0"/>
          </a:p>
        </p:txBody>
      </p:sp>
      <p:sp>
        <p:nvSpPr>
          <p:cNvPr id="21" name="Model detail CNN"/>
          <p:cNvSpPr txBox="1"/>
          <p:nvPr/>
        </p:nvSpPr>
        <p:spPr>
          <a:xfrm>
            <a:off x="6931152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Conv layers on tactile signal + 33 engineered features</a:t>
            </a:r>
            <a:endParaRPr lang="en-US" sz="1400" dirty="0"/>
          </a:p>
        </p:txBody>
      </p:sp>
      <p:sp>
        <p:nvSpPr>
          <p:cNvPr id="22" name="Model input CNN"/>
          <p:cNvSpPr txBox="1"/>
          <p:nvPr/>
        </p:nvSpPr>
        <p:spPr>
          <a:xfrm>
            <a:off x="6931152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Adam, early stopping</a:t>
            </a:r>
            <a:endParaRPr lang="en-US" sz="1200" dirty="0"/>
          </a:p>
        </p:txBody>
      </p:sp>
      <p:sp>
        <p:nvSpPr>
          <p:cNvPr id="23" name="CNN diagram label"/>
          <p:cNvSpPr txBox="1"/>
          <p:nvPr/>
        </p:nvSpPr>
        <p:spPr>
          <a:xfrm>
            <a:off x="4572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CNN ARCHITECTURE</a:t>
            </a:r>
            <a:endParaRPr lang="en-US" sz="1200" dirty="0"/>
          </a:p>
        </p:txBody>
      </p:sp>
      <p:sp>
        <p:nvSpPr>
          <p:cNvPr id="24" name="Arch box 1"/>
          <p:cNvSpPr/>
          <p:nvPr/>
        </p:nvSpPr>
        <p:spPr>
          <a:xfrm>
            <a:off x="45720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25" name="Arch title 1"/>
          <p:cNvSpPr txBox="1"/>
          <p:nvPr/>
        </p:nvSpPr>
        <p:spPr>
          <a:xfrm>
            <a:off x="530352" y="36118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Tactile input</a:t>
            </a:r>
            <a:endParaRPr lang="en-US" sz="1300" dirty="0"/>
          </a:p>
        </p:txBody>
      </p:sp>
      <p:sp>
        <p:nvSpPr>
          <p:cNvPr id="26" name="Arch detail 1"/>
          <p:cNvSpPr txBox="1"/>
          <p:nvPr/>
        </p:nvSpPr>
        <p:spPr>
          <a:xfrm>
            <a:off x="530352" y="4023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6 × 69</a:t>
            </a:r>
            <a:endParaRPr lang="en-US" sz="1100" dirty="0"/>
          </a:p>
        </p:txBody>
      </p:sp>
      <p:sp>
        <p:nvSpPr>
          <p:cNvPr id="27" name="Arch arrow 1"/>
          <p:cNvSpPr/>
          <p:nvPr/>
        </p:nvSpPr>
        <p:spPr>
          <a:xfrm>
            <a:off x="1975104" y="395935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8" name="Arch box 2"/>
          <p:cNvSpPr/>
          <p:nvPr/>
        </p:nvSpPr>
        <p:spPr>
          <a:xfrm>
            <a:off x="214884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29" name="Arch title 2"/>
          <p:cNvSpPr txBox="1"/>
          <p:nvPr/>
        </p:nvSpPr>
        <p:spPr>
          <a:xfrm>
            <a:off x="2221992" y="36118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 × Conv</a:t>
            </a:r>
            <a:endParaRPr lang="en-US" sz="1300" dirty="0"/>
          </a:p>
        </p:txBody>
      </p:sp>
      <p:sp>
        <p:nvSpPr>
          <p:cNvPr id="30" name="Arch detail 2"/>
          <p:cNvSpPr txBox="1"/>
          <p:nvPr/>
        </p:nvSpPr>
        <p:spPr>
          <a:xfrm>
            <a:off x="2221992" y="4023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1×5, 24 filters, pool, dropout 0.5</a:t>
            </a:r>
            <a:endParaRPr lang="en-US" sz="1100" dirty="0"/>
          </a:p>
        </p:txBody>
      </p:sp>
      <p:sp>
        <p:nvSpPr>
          <p:cNvPr id="31" name="Arch arrow 2"/>
          <p:cNvSpPr/>
          <p:nvPr/>
        </p:nvSpPr>
        <p:spPr>
          <a:xfrm>
            <a:off x="3666744" y="395935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32" name="Arch box 3"/>
          <p:cNvSpPr/>
          <p:nvPr/>
        </p:nvSpPr>
        <p:spPr>
          <a:xfrm>
            <a:off x="384048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33" name="Arch title 3"/>
          <p:cNvSpPr txBox="1"/>
          <p:nvPr/>
        </p:nvSpPr>
        <p:spPr>
          <a:xfrm>
            <a:off x="3913632" y="36118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Merge</a:t>
            </a:r>
            <a:endParaRPr lang="en-US" sz="1300" dirty="0"/>
          </a:p>
        </p:txBody>
      </p:sp>
      <p:sp>
        <p:nvSpPr>
          <p:cNvPr id="34" name="Arch detail 3"/>
          <p:cNvSpPr txBox="1"/>
          <p:nvPr/>
        </p:nvSpPr>
        <p:spPr>
          <a:xfrm>
            <a:off x="3913632" y="4023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flatten + 33 engineered features</a:t>
            </a:r>
            <a:endParaRPr lang="en-US" sz="1100" dirty="0"/>
          </a:p>
        </p:txBody>
      </p:sp>
      <p:sp>
        <p:nvSpPr>
          <p:cNvPr id="35" name="Arch arrow 3"/>
          <p:cNvSpPr/>
          <p:nvPr/>
        </p:nvSpPr>
        <p:spPr>
          <a:xfrm>
            <a:off x="5358384" y="395935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36" name="Arch box 4"/>
          <p:cNvSpPr/>
          <p:nvPr/>
        </p:nvSpPr>
        <p:spPr>
          <a:xfrm>
            <a:off x="553212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37" name="Arch title 4"/>
          <p:cNvSpPr txBox="1"/>
          <p:nvPr/>
        </p:nvSpPr>
        <p:spPr>
          <a:xfrm>
            <a:off x="5605272" y="36118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Dense 50</a:t>
            </a:r>
            <a:endParaRPr lang="en-US" sz="1300" dirty="0"/>
          </a:p>
        </p:txBody>
      </p:sp>
      <p:sp>
        <p:nvSpPr>
          <p:cNvPr id="38" name="Arch detail 4"/>
          <p:cNvSpPr txBox="1"/>
          <p:nvPr/>
        </p:nvSpPr>
        <p:spPr>
          <a:xfrm>
            <a:off x="5605272" y="4023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ReLU</a:t>
            </a:r>
            <a:endParaRPr lang="en-US" sz="1100" dirty="0"/>
          </a:p>
        </p:txBody>
      </p:sp>
      <p:sp>
        <p:nvSpPr>
          <p:cNvPr id="39" name="Arch arrow 4"/>
          <p:cNvSpPr/>
          <p:nvPr/>
        </p:nvSpPr>
        <p:spPr>
          <a:xfrm>
            <a:off x="7050024" y="3959352"/>
            <a:ext cx="118872" cy="219456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40" name="Arch box 5"/>
          <p:cNvSpPr/>
          <p:nvPr/>
        </p:nvSpPr>
        <p:spPr>
          <a:xfrm>
            <a:off x="722376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41" name="Arch title 5"/>
          <p:cNvSpPr txBox="1"/>
          <p:nvPr/>
        </p:nvSpPr>
        <p:spPr>
          <a:xfrm>
            <a:off x="7296912" y="36118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Output</a:t>
            </a:r>
            <a:endParaRPr lang="en-US" sz="1300" dirty="0"/>
          </a:p>
        </p:txBody>
      </p:sp>
      <p:sp>
        <p:nvSpPr>
          <p:cNvPr id="42" name="Arch detail 5"/>
          <p:cNvSpPr txBox="1"/>
          <p:nvPr/>
        </p:nvSpPr>
        <p:spPr>
          <a:xfrm>
            <a:off x="7296912" y="4023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8 classes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</a:t>
            </a:r>
            <a:endParaRPr lang="en-US" sz="3400" dirty="0"/>
          </a:p>
        </p:txBody>
      </p:sp>
      <p:sp>
        <p:nvSpPr>
          <p:cNvPr id="3" name="Table label"/>
          <p:cNvSpPr txBox="1"/>
          <p:nvPr/>
        </p:nvSpPr>
        <p:spPr>
          <a:xfrm>
            <a:off x="45720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TEST SET RESULTS</a:t>
            </a:r>
            <a:endParaRPr lang="en-US" sz="1200" dirty="0"/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47472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Macro F1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77.09%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0.7698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SVM (RBF)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70.41%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0.7093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CNN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61.96%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0.5900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56.06%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0.5593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Model comparison figure" descr="Bar chart: final model comparison on the test set (accuracy and macro F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4572000" cy="2256752"/>
          </a:xfrm>
          <a:prstGeom prst="rect">
            <a:avLst/>
          </a:prstGeom>
        </p:spPr>
      </p:pic>
      <p:sp>
        <p:nvSpPr>
          <p:cNvPr id="6" name="Best model strip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4" name="Best accuracy"/>
          <p:cNvSpPr txBox="1"/>
          <p:nvPr/>
        </p:nvSpPr>
        <p:spPr>
          <a:xfrm>
            <a:off x="685800" y="3657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77.09%</a:t>
            </a:r>
            <a:endParaRPr lang="en-US" sz="3600" dirty="0"/>
          </a:p>
        </p:txBody>
      </p:sp>
      <p:sp>
        <p:nvSpPr>
          <p:cNvPr id="8" name="Best model text"/>
          <p:cNvSpPr txBox="1"/>
          <p:nvPr/>
        </p:nvSpPr>
        <p:spPr>
          <a:xfrm>
            <a:off x="2743200" y="3749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Random Forest: best on both test metrics, +15.13 pp over the CNN</a:t>
            </a:r>
            <a:endParaRPr lang="en-US" sz="1600" dirty="0"/>
          </a:p>
        </p:txBody>
      </p:sp>
      <p:sp>
        <p:nvSpPr>
          <p:cNvPr id="9" name="Best model caption"/>
          <p:cNvSpPr txBox="1"/>
          <p:nvPr/>
        </p:nvSpPr>
        <p:spPr>
          <a:xfrm>
            <a:off x="274320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899 held-out test samples  |  single stratified split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CNN errors and limitations</a:t>
            </a:r>
            <a:endParaRPr lang="en-US" sz="3400" dirty="0"/>
          </a:p>
        </p:txBody>
      </p:sp>
      <p:pic>
        <p:nvPicPr>
          <p:cNvPr id="3" name="CNN confusion matrix figure" descr="CNN final test confusion matrix over the 8 terrain c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874798" cy="3383280"/>
          </a:xfrm>
          <a:prstGeom prst="rect">
            <a:avLst/>
          </a:prstGeom>
        </p:spPr>
      </p:pic>
      <p:sp>
        <p:nvSpPr>
          <p:cNvPr id="4" name="Limit dot 1"/>
          <p:cNvSpPr/>
          <p:nvPr/>
        </p:nvSpPr>
        <p:spPr>
          <a:xfrm>
            <a:off x="4754880" y="14173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Limit text 1"/>
          <p:cNvSpPr txBox="1"/>
          <p:nvPr/>
        </p:nvSpPr>
        <p:spPr>
          <a:xfrm>
            <a:off x="5074920" y="12344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stratified split and one run; results may vary</a:t>
            </a:r>
            <a:endParaRPr lang="en-US" sz="1400" dirty="0"/>
          </a:p>
        </p:txBody>
      </p:sp>
      <p:sp>
        <p:nvSpPr>
          <p:cNvPr id="6" name="Limit dot 2"/>
          <p:cNvSpPr/>
          <p:nvPr/>
        </p:nvSpPr>
        <p:spPr>
          <a:xfrm>
            <a:off x="4754880" y="2075688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Limit text 2"/>
          <p:cNvSpPr txBox="1"/>
          <p:nvPr/>
        </p:nvSpPr>
        <p:spPr>
          <a:xfrm>
            <a:off x="5074920" y="18928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CNN struggles with cork (11% recall)</a:t>
            </a:r>
            <a:endParaRPr lang="en-US" sz="1400" dirty="0"/>
          </a:p>
        </p:txBody>
      </p:sp>
      <p:sp>
        <p:nvSpPr>
          <p:cNvPr id="8" name="Limit dot 3"/>
          <p:cNvSpPr/>
          <p:nvPr/>
        </p:nvSpPr>
        <p:spPr>
          <a:xfrm>
            <a:off x="4754880" y="273405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Limit text 3"/>
          <p:cNvSpPr txBox="1"/>
          <p:nvPr/>
        </p:nvSpPr>
        <p:spPr>
          <a:xfrm>
            <a:off x="5074920" y="255117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cross-validation or real-robot testing yet</a:t>
            </a:r>
            <a:endParaRPr lang="en-US" sz="1400" dirty="0"/>
          </a:p>
        </p:txBody>
      </p:sp>
      <p:sp>
        <p:nvSpPr>
          <p:cNvPr id="10" name="Limit dot 4"/>
          <p:cNvSpPr/>
          <p:nvPr/>
        </p:nvSpPr>
        <p:spPr>
          <a:xfrm>
            <a:off x="4754880" y="3392424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Limit text 4"/>
          <p:cNvSpPr txBox="1"/>
          <p:nvPr/>
        </p:nvSpPr>
        <p:spPr>
          <a:xfrm>
            <a:off x="5074920" y="32095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Conclusions limited to this dataset and setup</a:t>
            </a:r>
            <a:endParaRPr lang="en-US" sz="1400" dirty="0"/>
          </a:p>
        </p:txBody>
      </p:sp>
      <p:sp>
        <p:nvSpPr>
          <p:cNvPr id="12" name="Future work card"/>
          <p:cNvSpPr/>
          <p:nvPr/>
        </p:nvSpPr>
        <p:spPr>
          <a:xfrm>
            <a:off x="4754880" y="388620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Future work text"/>
          <p:cNvSpPr txBox="1"/>
          <p:nvPr/>
        </p:nvSpPr>
        <p:spPr>
          <a:xfrm>
            <a:off x="4892040" y="391363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Next: repeated splits or cross-validation, feature importance, other architectures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Headline number"/>
          <p:cNvSpPr txBox="1"/>
          <p:nvPr/>
        </p:nvSpPr>
        <p:spPr>
          <a:xfrm>
            <a:off x="457200" y="1417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77.09%</a:t>
            </a:r>
            <a:endParaRPr lang="en-US" sz="6600" dirty="0"/>
          </a:p>
        </p:txBody>
      </p:sp>
      <p:sp>
        <p:nvSpPr>
          <p:cNvPr id="4" name="Headline label"/>
          <p:cNvSpPr txBox="1"/>
          <p:nvPr/>
        </p:nvSpPr>
        <p:spPr>
          <a:xfrm>
            <a:off x="4572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Random Forest test accuracy</a:t>
            </a:r>
            <a:endParaRPr lang="en-US" sz="1800" dirty="0"/>
          </a:p>
        </p:txBody>
      </p:sp>
      <p:sp>
        <p:nvSpPr>
          <p:cNvPr id="5" name="Headline sub"/>
          <p:cNvSpPr txBox="1"/>
          <p:nvPr/>
        </p:nvSpPr>
        <p:spPr>
          <a:xfrm>
            <a:off x="45720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Macro F1  0.7698</a:t>
            </a:r>
            <a:endParaRPr lang="en-US" sz="1400" dirty="0"/>
          </a:p>
        </p:txBody>
      </p:sp>
      <p:sp>
        <p:nvSpPr>
          <p:cNvPr id="6" name="Takeaway 1 marker"/>
          <p:cNvSpPr/>
          <p:nvPr/>
        </p:nvSpPr>
        <p:spPr>
          <a:xfrm>
            <a:off x="4480560" y="13898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akeaway 1 marker number"/>
          <p:cNvSpPr txBox="1"/>
          <p:nvPr/>
        </p:nvSpPr>
        <p:spPr>
          <a:xfrm>
            <a:off x="44805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akeaway 1 text"/>
          <p:cNvSpPr txBox="1"/>
          <p:nvPr/>
        </p:nvSpPr>
        <p:spPr>
          <a:xfrm>
            <a:off x="512064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Random Forest performed best of the four models on this test split</a:t>
            </a:r>
            <a:endParaRPr lang="en-US" sz="1600" dirty="0"/>
          </a:p>
        </p:txBody>
      </p:sp>
      <p:sp>
        <p:nvSpPr>
          <p:cNvPr id="9" name="Takeaway 2 marker"/>
          <p:cNvSpPr/>
          <p:nvPr/>
        </p:nvSpPr>
        <p:spPr>
          <a:xfrm>
            <a:off x="4480560" y="2395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akeaway 2 marker number"/>
          <p:cNvSpPr txBox="1"/>
          <p:nvPr/>
        </p:nvSpPr>
        <p:spPr>
          <a:xfrm>
            <a:off x="44805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akeaway 2 text"/>
          <p:cNvSpPr txBox="1"/>
          <p:nvPr/>
        </p:nvSpPr>
        <p:spPr>
          <a:xfrm>
            <a:off x="512064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CNN reached 61.96%: strong on sand and grass, weak on cork</a:t>
            </a:r>
            <a:endParaRPr lang="en-US" sz="1600" dirty="0"/>
          </a:p>
        </p:txBody>
      </p:sp>
      <p:sp>
        <p:nvSpPr>
          <p:cNvPr id="12" name="Takeaway 3 marker"/>
          <p:cNvSpPr/>
          <p:nvPr/>
        </p:nvSpPr>
        <p:spPr>
          <a:xfrm>
            <a:off x="4480560" y="34015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akeaway 3 marker number"/>
          <p:cNvSpPr txBox="1"/>
          <p:nvPr/>
        </p:nvSpPr>
        <p:spPr>
          <a:xfrm>
            <a:off x="44805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akeaway 3 text"/>
          <p:cNvSpPr txBox="1"/>
          <p:nvPr/>
        </p:nvSpPr>
        <p:spPr>
          <a:xfrm>
            <a:off x="5120640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Benchmark deep learning against classical baselines before assuming it wins</a:t>
            </a:r>
            <a:endParaRPr lang="en-US" sz="1600" dirty="0"/>
          </a:p>
        </p:txBody>
      </p:sp>
      <p:sp>
        <p:nvSpPr>
          <p:cNvPr id="15" name="Scope note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Findings apply to this dataset, split and model configuration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in B-29">
  <a:themeElements>
    <a:clrScheme name="Terrain B-29">
      <a:dk1>
        <a:srgbClr val="1B2B27"/>
      </a:dk1>
      <a:lt1>
        <a:srgbClr val="FFFFFF"/>
      </a:lt1>
      <a:dk2>
        <a:srgbClr val="1F3A35"/>
      </a:dk2>
      <a:lt2>
        <a:srgbClr val="F2F5F3"/>
      </a:lt2>
      <a:accent1>
        <a:srgbClr val="2F6F5E"/>
      </a:accent1>
      <a:accent2>
        <a:srgbClr val="D98E32"/>
      </a:accent2>
      <a:accent3>
        <a:srgbClr val="6F7F79"/>
      </a:accent3>
      <a:accent4>
        <a:srgbClr val="5B8DB8"/>
      </a:accent4>
      <a:accent5>
        <a:srgbClr val="B5483A"/>
      </a:accent5>
      <a:accent6>
        <a:srgbClr val="A7BEAE"/>
      </a:accent6>
      <a:hlink>
        <a:srgbClr val="2F6F5E"/>
      </a:hlink>
      <a:folHlink>
        <a:srgbClr val="6F7F79"/>
      </a:folHlink>
    </a:clrScheme>
    <a:fontScheme name="Terrain B-29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943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Terrain B-29</vt:lpstr>
      <vt:lpstr>Terrain Classification for Small Legged Robots</vt:lpstr>
      <vt:lpstr>Problem and objectives</vt:lpstr>
      <vt:lpstr>Dataset</vt:lpstr>
      <vt:lpstr>Methodology</vt:lpstr>
      <vt:lpstr>Four models compared</vt:lpstr>
      <vt:lpstr>Results</vt:lpstr>
      <vt:lpstr>CNN errors and limitations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Terrain Classification for Small Legged Robots Using Deep Learning on Tactile Data</dc:title>
  <dc:subject>PptxGenJS Presentation</dc:subject>
  <dc:creator>Team B-29</dc:creator>
  <cp:lastModifiedBy>GAYATHRI PRIYA V</cp:lastModifiedBy>
  <cp:revision>2</cp:revision>
  <dcterms:created xsi:type="dcterms:W3CDTF">2026-10-13T04:05:05Z</dcterms:created>
  <dcterms:modified xsi:type="dcterms:W3CDTF">2026-10-13T04:25:36Z</dcterms:modified>
</cp:coreProperties>
</file>